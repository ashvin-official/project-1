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Azeret Mono" panose="020B0604020202020204" charset="0"/>
      <p:regular r:id="rId12"/>
    </p:embeddedFont>
    <p:embeddedFont>
      <p:font typeface="Azeret Mono Bold" panose="020B0604020202020204" charset="0"/>
      <p:regular r:id="rId13"/>
    </p:embeddedFont>
    <p:embeddedFont>
      <p:font typeface="Azeret Mono Medium" panose="020B0604020202020204" charset="0"/>
      <p:regular r:id="rId14"/>
    </p:embeddedFont>
    <p:embeddedFont>
      <p:font typeface="Karla" pitchFamily="2" charset="0"/>
      <p:regular r:id="rId15"/>
    </p:embeddedFont>
    <p:embeddedFont>
      <p:font typeface="Karla Bold" panose="020B0604020202020204" charset="0"/>
      <p:regular r:id="rId16"/>
    </p:embeddedFont>
    <p:embeddedFont>
      <p:font typeface="Karla Medium" pitchFamily="2" charset="0"/>
      <p:regular r:id="rId17"/>
    </p:embeddedFont>
    <p:embeddedFont>
      <p:font typeface="Schibsted Grotesk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47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A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7162621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Student survey · 40 responses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1628080"/>
            <a:ext cx="6603835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kern="100" spc="-48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Student Use of Artificial Intelligence in Education: A Descriptive Survey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8786" y="4093865"/>
            <a:ext cx="3301917" cy="12601"/>
          </a:xfrm>
          <a:prstGeom prst="roundRect">
            <a:avLst>
              <a:gd name="adj" fmla="val 49998"/>
            </a:avLst>
          </a:prstGeom>
          <a:solidFill>
            <a:srgbClr val="0C7470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4358977"/>
            <a:ext cx="6603835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 survey of 40 students on how they adopt, perceive and evaluate AI tools in their academic work.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Survey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38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Descriptive survey of 40 students, mostly from science and engineering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030214"/>
            <a:ext cx="6370180" cy="3872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6056" y="2030214"/>
            <a:ext cx="4246853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b="1" kern="100" spc="-44" dirty="0">
                <a:solidFill>
                  <a:srgbClr val="000000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72.5%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86056" y="2830513"/>
            <a:ext cx="424685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Science and engineering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86056" y="3349625"/>
            <a:ext cx="4246853" cy="12601"/>
          </a:xfrm>
          <a:prstGeom prst="roundRect">
            <a:avLst>
              <a:gd name="adj" fmla="val 49998"/>
            </a:avLst>
          </a:prstGeom>
          <a:solidFill>
            <a:srgbClr val="C9D3D1"/>
          </a:solidFill>
          <a:ln/>
        </p:spPr>
      </p:sp>
      <p:sp>
        <p:nvSpPr>
          <p:cNvPr id="8" name="Text 5"/>
          <p:cNvSpPr/>
          <p:nvPr/>
        </p:nvSpPr>
        <p:spPr>
          <a:xfrm>
            <a:off x="7386056" y="3551238"/>
            <a:ext cx="424685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Aim: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use, tools, frequency, purposes, concerns and policy views.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Design: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reported patterns and perceptions; not cause.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Analysis: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frequencies, percentages and qualitative themes from open-ended comments.</a:t>
            </a:r>
            <a:endParaRPr lang="en-US" sz="2000" dirty="0"/>
          </a:p>
        </p:txBody>
      </p:sp>
      <p:pic>
        <p:nvPicPr>
          <p:cNvPr id="10" name="Picture 9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7F3EE2B5-9F57-E80A-D88A-9C7E1F41F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Tools and frequency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38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Chat GPT and Gemini dominate, and </a:t>
            </a:r>
            <a:r>
              <a:rPr lang="en-US" sz="3200" b="1" kern="100" spc="-38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42.5%</a:t>
            </a:r>
            <a:r>
              <a:rPr lang="en-US" sz="3200" b="1" kern="100" spc="-38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 use AI several times a day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030214"/>
            <a:ext cx="6370180" cy="37471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5856784"/>
            <a:ext cx="63701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A667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Many students combine several platforms.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86056" y="2030214"/>
          <a:ext cx="4246853" cy="3974703"/>
        </p:xfrm>
        <a:graphic>
          <a:graphicData uri="http://schemas.openxmlformats.org/drawingml/2006/table">
            <a:tbl>
              <a:tblPr/>
              <a:tblGrid>
                <a:gridCol w="3227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Use frequency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n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Several times a day · 42.5%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17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Several times a week · 27.5%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11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Once a day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4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Occasionally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6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Once a week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1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Rarely</a:t>
                      </a:r>
                      <a:endParaRPr lang="en-US" sz="20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1B2228"/>
                          </a:solidFill>
                          <a:latin typeface="Karla" pitchFamily="34" charset="0"/>
                          <a:ea typeface="Karla" pitchFamily="34" charset="-122"/>
                          <a:cs typeface="Karla" pitchFamily="34" charset="-120"/>
                        </a:rPr>
                        <a:t>1</a:t>
                      </a:r>
                      <a:endParaRPr lang="en-US" sz="2400" dirty="0">
                        <a:latin typeface="Karla" charset="0"/>
                        <a:ea typeface="Karla" charset="0"/>
                        <a:cs typeface="Karla" charset="0"/>
                      </a:endParaRPr>
                    </a:p>
                  </a:txBody>
                  <a:tcPr marL="50799" marR="50799" marT="63498" marB="63498" anchor="ctr">
                    <a:lnL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766FA39F-67EE-1E3F-676B-D0B6F308F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074123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41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Students use AI across every stage of academic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58786" y="1399778"/>
            <a:ext cx="1107412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850"/>
              </a:spcAft>
              <a:buNone/>
            </a:pPr>
            <a:r>
              <a:rPr lang="en-US" sz="24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Most visible purpose</a:t>
            </a:r>
            <a:endParaRPr lang="en-US" sz="2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Understanding difficult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86" y="2936280"/>
            <a:ext cx="110741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Solving problems, assignments, exam preparation, summarising, research, coding, writing, idea generation, translation and presentations.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8786" y="4226520"/>
            <a:ext cx="110741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Preferred role: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 learning assistant that explains concepts, improves existing work and supplies ideas.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8786" y="5516860"/>
            <a:ext cx="110741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Some worry that using AI mainly to finish tasks quickly reduces independent thinking.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8786" y="2752130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sp>
        <p:nvSpPr>
          <p:cNvPr id="8" name="Shape 6"/>
          <p:cNvSpPr/>
          <p:nvPr/>
        </p:nvSpPr>
        <p:spPr>
          <a:xfrm>
            <a:off x="558786" y="4042370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sp>
        <p:nvSpPr>
          <p:cNvPr id="9" name="Shape 7"/>
          <p:cNvSpPr/>
          <p:nvPr/>
        </p:nvSpPr>
        <p:spPr>
          <a:xfrm>
            <a:off x="558786" y="5332710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pic>
        <p:nvPicPr>
          <p:cNvPr id="11" name="Picture 10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2B15D7D5-E5D8-D810-180B-41AA5D072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Perceived performance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100" spc="-38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67.5%</a:t>
            </a:r>
            <a:r>
              <a:rPr lang="en-US" sz="3200" b="1" kern="100" spc="-38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 perceive improved performance, but this is self-reported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030214"/>
            <a:ext cx="6370180" cy="34973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5606951"/>
            <a:ext cx="63701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A667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Perceptions, not measured grades; no evidence that AI caused the change.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86056" y="2030214"/>
            <a:ext cx="4246853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1B2228"/>
                </a:solidFill>
                <a:latin typeface="Karla Medium" pitchFamily="34" charset="0"/>
                <a:ea typeface="Karla Medium" pitchFamily="34" charset="-122"/>
                <a:cs typeface="Karla Medium" pitchFamily="34" charset="-120"/>
              </a:rPr>
              <a:t>Verification varies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86056" y="2635349"/>
            <a:ext cx="424685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From always to rarely; some students usually do not verify.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86056" y="3484662"/>
            <a:ext cx="4246853" cy="12601"/>
          </a:xfrm>
          <a:prstGeom prst="roundRect">
            <a:avLst>
              <a:gd name="adj" fmla="val 49998"/>
            </a:avLst>
          </a:prstGeom>
          <a:solidFill>
            <a:srgbClr val="C9D3D1"/>
          </a:solidFill>
          <a:ln/>
        </p:spPr>
      </p:sp>
      <p:sp>
        <p:nvSpPr>
          <p:cNvPr id="9" name="Text 6"/>
          <p:cNvSpPr/>
          <p:nvPr/>
        </p:nvSpPr>
        <p:spPr>
          <a:xfrm>
            <a:off x="7386056" y="3686274"/>
            <a:ext cx="4246853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Sources used: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textbooks, academic websites and journals, search engines, official sites, teachers and other AI tools.</a:t>
            </a:r>
            <a:endParaRPr lang="en-US" sz="2000" dirty="0"/>
          </a:p>
        </p:txBody>
      </p:sp>
      <p:pic>
        <p:nvPicPr>
          <p:cNvPr id="11" name="Picture 10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A12D51DB-0284-4A4F-B75C-94CD4B29C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Concerns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41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Reduced critical thinking is the top concern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618853"/>
            <a:ext cx="7077890" cy="4234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3865" y="1618853"/>
            <a:ext cx="3539044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b="1" kern="100" spc="-44" dirty="0">
                <a:solidFill>
                  <a:srgbClr val="000000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65%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093865" y="2419152"/>
            <a:ext cx="353904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Top three concerns: 26 of 40 responses.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93865" y="3268464"/>
            <a:ext cx="3538945" cy="12601"/>
          </a:xfrm>
          <a:prstGeom prst="roundRect">
            <a:avLst>
              <a:gd name="adj" fmla="val 49998"/>
            </a:avLst>
          </a:prstGeom>
          <a:solidFill>
            <a:srgbClr val="C9D3D1"/>
          </a:solidFill>
          <a:ln/>
        </p:spPr>
      </p:sp>
      <p:sp>
        <p:nvSpPr>
          <p:cNvPr id="8" name="Text 5"/>
          <p:cNvSpPr/>
          <p:nvPr/>
        </p:nvSpPr>
        <p:spPr>
          <a:xfrm>
            <a:off x="8093865" y="3470077"/>
            <a:ext cx="3539044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Students call AI a “double edged sword”: useful, but heavy reliance may weaken independent thinking.</a:t>
            </a:r>
            <a:endParaRPr lang="en-US" sz="2000" dirty="0"/>
          </a:p>
        </p:txBody>
      </p:sp>
      <p:pic>
        <p:nvPicPr>
          <p:cNvPr id="10" name="Picture 9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B8B6717C-B86C-5DC7-78CB-86F453B6E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College policy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41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87.5% want AI allowed in college, mostly with clear guidelines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3354685"/>
            <a:ext cx="35897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000" b="1" kern="100" spc="-50" dirty="0">
                <a:solidFill>
                  <a:srgbClr val="000000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87.5%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58786" y="4237335"/>
            <a:ext cx="358974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35 students support some form of permission.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53322" y="2085181"/>
          <a:ext cx="7179587" cy="3257467"/>
        </p:xfrm>
        <a:graphic>
          <a:graphicData uri="http://schemas.openxmlformats.org/drawingml/2006/table">
            <a:tbl>
              <a:tblPr/>
              <a:tblGrid>
                <a:gridCol w="502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kern="100" spc="40" dirty="0">
                          <a:solidFill>
                            <a:srgbClr val="5A6670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Policy view</a:t>
                      </a:r>
                      <a:endParaRPr lang="en-US" sz="20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kern="100" spc="40" dirty="0">
                          <a:solidFill>
                            <a:srgbClr val="5A6670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n</a:t>
                      </a:r>
                      <a:endParaRPr lang="en-US" sz="20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kern="100" spc="40" dirty="0">
                          <a:solidFill>
                            <a:srgbClr val="5A6670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%</a:t>
                      </a:r>
                      <a:endParaRPr lang="en-US" sz="20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Yes, with clear guidelines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23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57.5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Only for certain academic activities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9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22.5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Yes, without major restrictions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3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7.5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Not sure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4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10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No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1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200" dirty="0">
                          <a:solidFill>
                            <a:srgbClr val="1B2228"/>
                          </a:solidFill>
                          <a:latin typeface="Azeret Mono" pitchFamily="34" charset="0"/>
                          <a:ea typeface="Azeret Mono" pitchFamily="34" charset="-122"/>
                          <a:cs typeface="Azeret Mono" pitchFamily="34" charset="-120"/>
                        </a:rPr>
                        <a:t>2.5</a:t>
                      </a:r>
                      <a:endParaRPr lang="en-US" sz="2200" dirty="0">
                        <a:latin typeface="Azeret Mono" charset="0"/>
                        <a:ea typeface="Azeret Mono" charset="0"/>
                        <a:cs typeface="Azeret Mono" charset="0"/>
                      </a:endParaRPr>
                    </a:p>
                  </a:txBody>
                  <a:tcPr marL="50799" marR="126997" marT="38099" marB="38099" anchor="ctr">
                    <a:lnL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453322" y="5457031"/>
            <a:ext cx="717958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Most expect AI to stay relevant to education; acceptance does not mean unrestricted use.</a:t>
            </a:r>
            <a:endParaRPr lang="en-US" sz="2000" dirty="0"/>
          </a:p>
        </p:txBody>
      </p:sp>
      <p:pic>
        <p:nvPicPr>
          <p:cNvPr id="9" name="Picture 8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4CDEF2DC-A329-1E84-4150-F0AF143D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Responsible use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58786" y="955675"/>
            <a:ext cx="11074123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41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Five principles of responsible AI use, read from the survey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212181"/>
            <a:ext cx="571486" cy="571500"/>
          </a:xfrm>
          <a:prstGeom prst="rect">
            <a:avLst/>
          </a:prstGeom>
          <a:noFill/>
          <a:ln w="6350">
            <a:solidFill>
              <a:srgbClr val="C9D3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9433" y="2370931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2668" y="2212181"/>
            <a:ext cx="103502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Understand before depending: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grasp difficult concepts while staying engaged.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8786" y="3054945"/>
            <a:ext cx="571486" cy="571500"/>
          </a:xfrm>
          <a:prstGeom prst="rect">
            <a:avLst/>
          </a:prstGeom>
          <a:noFill/>
          <a:ln w="6350">
            <a:solidFill>
              <a:srgbClr val="C9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433" y="3213695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2668" y="3054945"/>
            <a:ext cx="103502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Assistance, not replacement: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support learning, not substitute for </a:t>
            </a:r>
            <a:r>
              <a:rPr lang="en-US" sz="2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independent thinking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58786" y="3897709"/>
            <a:ext cx="571486" cy="571500"/>
          </a:xfrm>
          <a:prstGeom prst="rect">
            <a:avLst/>
          </a:prstGeom>
          <a:noFill/>
          <a:ln w="6350">
            <a:solidFill>
              <a:srgbClr val="C9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433" y="4056459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2668" y="3897709"/>
            <a:ext cx="103502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Verify important information: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incorrect information is a top-three concern.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8786" y="4740473"/>
            <a:ext cx="571486" cy="571500"/>
          </a:xfrm>
          <a:prstGeom prst="rect">
            <a:avLst/>
          </a:prstGeom>
          <a:noFill/>
          <a:ln w="6350">
            <a:solidFill>
              <a:srgbClr val="C9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433" y="4899223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2668" y="4740473"/>
            <a:ext cx="103502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Maintain originality: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eight students flagged lack of originality.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8786" y="5583337"/>
            <a:ext cx="571486" cy="571500"/>
          </a:xfrm>
          <a:prstGeom prst="rect">
            <a:avLst/>
          </a:prstGeom>
          <a:noFill/>
          <a:ln w="6350">
            <a:solidFill>
              <a:srgbClr val="C9D3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433" y="5742087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2668" y="5583337"/>
            <a:ext cx="103502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Avoid excessive dependence: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four students named it; open comments echo it.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8786" y="2921595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786" y="3764359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sp>
        <p:nvSpPr>
          <p:cNvPr id="21" name="Shape 19"/>
          <p:cNvSpPr/>
          <p:nvPr/>
        </p:nvSpPr>
        <p:spPr>
          <a:xfrm>
            <a:off x="558786" y="4607123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sp>
        <p:nvSpPr>
          <p:cNvPr id="22" name="Shape 20"/>
          <p:cNvSpPr/>
          <p:nvPr/>
        </p:nvSpPr>
        <p:spPr>
          <a:xfrm>
            <a:off x="558786" y="5449987"/>
            <a:ext cx="11074123" cy="12700"/>
          </a:xfrm>
          <a:prstGeom prst="rect">
            <a:avLst/>
          </a:prstGeom>
          <a:solidFill>
            <a:srgbClr val="C9D3D1"/>
          </a:solidFill>
          <a:ln/>
        </p:spPr>
      </p:sp>
      <p:pic>
        <p:nvPicPr>
          <p:cNvPr id="24" name="Picture 23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2B1BBF18-6B96-F5D8-8FED-EE33F450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82600"/>
            <a:ext cx="213354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40" dirty="0">
                <a:solidFill>
                  <a:srgbClr val="0C7470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320" y="946448"/>
            <a:ext cx="8432589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46" dirty="0">
                <a:solidFill>
                  <a:srgbClr val="1B2228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Students see AI as a powerful tool whose value depends on </a:t>
            </a:r>
            <a:r>
              <a:rPr lang="en-US" sz="3800" b="1" kern="100" spc="-46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how it is used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320" y="2706886"/>
            <a:ext cx="8432589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Clear guidelines, verification, originality and personal responsibility keep independent thinking at the centre of student work.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320" y="4147840"/>
            <a:ext cx="2782619" cy="12601"/>
          </a:xfrm>
          <a:prstGeom prst="roundRect">
            <a:avLst>
              <a:gd name="adj" fmla="val 49998"/>
            </a:avLst>
          </a:prstGeom>
          <a:solidFill>
            <a:srgbClr val="0C7470"/>
          </a:solidFill>
          <a:ln/>
        </p:spPr>
      </p:sp>
      <p:sp>
        <p:nvSpPr>
          <p:cNvPr id="6" name="Text 4"/>
          <p:cNvSpPr/>
          <p:nvPr/>
        </p:nvSpPr>
        <p:spPr>
          <a:xfrm>
            <a:off x="3200320" y="4412952"/>
            <a:ext cx="843258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B2228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Limits:</a:t>
            </a:r>
            <a:r>
              <a:rPr lang="en-US" sz="2000" dirty="0">
                <a:solidFill>
                  <a:srgbClr val="1B2228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self-reported data, a sample of 40, descriptive only, so no causation.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320" y="5251152"/>
            <a:ext cx="843258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20" dirty="0">
                <a:solidFill>
                  <a:srgbClr val="5A6670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Data source: the 40-response student survey only; no external sources used.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35184" y="0"/>
            <a:ext cx="12700" cy="6858000"/>
          </a:xfrm>
          <a:prstGeom prst="rect">
            <a:avLst/>
          </a:prstGeom>
          <a:solidFill>
            <a:srgbClr val="C9D3D1"/>
          </a:solidFill>
          <a:ln/>
        </p:spPr>
      </p:sp>
      <p:pic>
        <p:nvPicPr>
          <p:cNvPr id="10" name="Picture 9" descr="The image is of an empty, uncolored, plain white canvas.&#10;&#10;AI-generated content may be incorrect.">
            <a:extLst>
              <a:ext uri="{FF2B5EF4-FFF2-40B4-BE49-F238E27FC236}">
                <a16:creationId xmlns:a16="http://schemas.microsoft.com/office/drawing/2014/main" id="{96E277C9-9193-E521-E588-AF12D35C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573" y="6384205"/>
            <a:ext cx="4496427" cy="444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541</Words>
  <Application>Microsoft Office PowerPoint</Application>
  <PresentationFormat>Widescreen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Azeret Mono Bold</vt:lpstr>
      <vt:lpstr>Arial</vt:lpstr>
      <vt:lpstr>Karla Bold</vt:lpstr>
      <vt:lpstr>Karla Medium</vt:lpstr>
      <vt:lpstr>Azeret Mono Medium</vt:lpstr>
      <vt:lpstr>Azeret Mono</vt:lpstr>
      <vt:lpstr>Schibsted Grotesk Bold</vt:lpstr>
      <vt:lpstr>Karla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Ashvin</dc:creator>
  <cp:lastModifiedBy>Ashvin A</cp:lastModifiedBy>
  <cp:revision>2</cp:revision>
  <dcterms:created xsi:type="dcterms:W3CDTF">2026-10-02T12:07:42Z</dcterms:created>
  <dcterms:modified xsi:type="dcterms:W3CDTF">2026-10-02T12:14:10Z</dcterms:modified>
</cp:coreProperties>
</file>